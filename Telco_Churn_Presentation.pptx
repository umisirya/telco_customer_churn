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Calibri"/>
              </a:rPr>
              <a:t>Churn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E05C5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Retained (No)</c:v>
                </c:pt>
                <c:pt idx="1">
                  <c:v>Churned (Yes)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Calibri"/>
              </a:rPr>
              <a:t>Churn Rate by Contract Type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9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C0C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Calibri"/>
              </a:rPr>
              <a:t>By Internet Service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9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C0C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Fiber Optic</c:v>
                  </c:pt>
                  <c:pt idx="1">
                    <c:v>DSL</c:v>
                  </c:pt>
                  <c:pt idx="2">
                    <c:v>No Internet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</c:v>
                </c:pt>
                <c:pt idx="2">
                  <c:v>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Calibri"/>
              </a:rPr>
              <a:t>By Tenure Bucket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9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A8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C0C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0–12 mo</c:v>
                  </c:pt>
                  <c:pt idx="1">
                    <c:v>13–24 mo</c:v>
                  </c:pt>
                  <c:pt idx="2">
                    <c:v>25–48 mo</c:v>
                  </c:pt>
                  <c:pt idx="3">
                    <c:v>49–72 mo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47.7</c:v>
                </c:pt>
                <c:pt idx="1">
                  <c:v>35.8</c:v>
                </c:pt>
                <c:pt idx="2">
                  <c:v>20.4</c:v>
                </c:pt>
                <c:pt idx="3">
                  <c:v>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Calibri"/>
              </a:rPr>
              <a:t>By Payment Method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9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A8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C0C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Electronic Check</c:v>
                  </c:pt>
                  <c:pt idx="1">
                    <c:v>Mailed Check</c:v>
                  </c:pt>
                  <c:pt idx="2">
                    <c:v>Bank Transfer</c:v>
                  </c:pt>
                  <c:pt idx="3">
                    <c:v>Credit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19.1</c:v>
                </c:pt>
                <c:pt idx="2">
                  <c:v>16.7</c:v>
                </c:pt>
                <c:pt idx="3">
                  <c:v>15.2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472C4">
              <a:alpha val="25000"/>
            </a:srgbClr>
          </a:solidFill>
          <a:ln w="12700">
            <a:solidFill>
              <a:srgbClr val="4472C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4472C4">
              <a:alpha val="40000"/>
            </a:srgbClr>
          </a:solidFill>
          <a:ln w="12700">
            <a:solidFill>
              <a:srgbClr val="4472C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2286000" cy="2286000"/>
          </a:xfrm>
          <a:prstGeom prst="ellipse">
            <a:avLst/>
          </a:prstGeom>
          <a:solidFill>
            <a:srgbClr val="E05C5C">
              <a:alpha val="25000"/>
            </a:srgbClr>
          </a:solidFill>
          <a:ln w="12700">
            <a:solidFill>
              <a:srgbClr val="E05C5C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  |  Future Interns Program  |  2025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4472C4">
              <a:alpha val="20000"/>
            </a:srgbClr>
          </a:solidFill>
          <a:ln w="12700">
            <a:solidFill>
              <a:srgbClr val="4472C4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187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36576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4472C4">
              <a:alpha val="20000"/>
            </a:srgbClr>
          </a:solidFill>
          <a:ln w="12700">
            <a:solidFill>
              <a:srgbClr val="4472C4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4187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6576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4472C4">
              <a:alpha val="20000"/>
            </a:srgbClr>
          </a:solidFill>
          <a:ln w="12700">
            <a:solidFill>
              <a:srgbClr val="4472C4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4187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36576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4472C4">
              <a:alpha val="20000"/>
            </a:srgbClr>
          </a:solidFill>
          <a:ln w="12700">
            <a:solidFill>
              <a:srgbClr val="4472C4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$64.76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4187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Charge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926080" cy="3291840"/>
          </a:xfrm>
          <a:prstGeom prst="roundRect">
            <a:avLst>
              <a:gd name="adj" fmla="val 3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373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customers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the company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234440"/>
            <a:ext cx="4937760" cy="685800"/>
          </a:xfrm>
          <a:prstGeom prst="roundRect">
            <a:avLst>
              <a:gd name="adj" fmla="val 9333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271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536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directly erodes recurring monthly revenue and customer lifetime value.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2029968"/>
            <a:ext cx="4937760" cy="685800"/>
          </a:xfrm>
          <a:prstGeom prst="roundRect">
            <a:avLst>
              <a:gd name="adj" fmla="val 9333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066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5–7x more than retaining an existing 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49040" y="2825496"/>
            <a:ext cx="4937760" cy="685800"/>
          </a:xfrm>
          <a:prstGeom prst="roundRect">
            <a:avLst>
              <a:gd name="adj" fmla="val 9333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862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3127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face no switching cost, making them vulnerable to competitor offers.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49040" y="3621024"/>
            <a:ext cx="4937760" cy="685800"/>
          </a:xfrm>
          <a:prstGeom prst="roundRect">
            <a:avLst>
              <a:gd name="adj" fmla="val 9333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39227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segments churn most — and what can the business do about it?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4472C4">
              <a:alpha val="12000"/>
            </a:srgbClr>
          </a:solidFill>
          <a:ln w="12700">
            <a:solidFill>
              <a:srgbClr val="4472C4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Watson Telco Customer Churn Dataset  |  7,043 Records  |  21 Columns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38528"/>
            <a:ext cx="411480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395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7373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73736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938528"/>
            <a:ext cx="4114800" cy="1828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157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&amp; Internet Service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2395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Security &amp; Backup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633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Protection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Support, Streaming TV &amp; Movies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4612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5B8E6E"/>
          </a:solidFill>
          <a:ln w="12700">
            <a:solidFill>
              <a:srgbClr val="5B8E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47288"/>
            <a:ext cx="4114800" cy="182880"/>
          </a:xfrm>
          <a:prstGeom prst="rect">
            <a:avLst/>
          </a:prstGeom>
          <a:solidFill>
            <a:srgbClr val="5B8E6E"/>
          </a:solidFill>
          <a:ln w="12700">
            <a:solidFill>
              <a:srgbClr val="5B8E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46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666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904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41422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Billing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43799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Total Charges, Tenure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24612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246120"/>
            <a:ext cx="4114800" cy="384048"/>
          </a:xfrm>
          <a:prstGeom prst="roundRect">
            <a:avLst>
              <a:gd name="adj" fmla="val 2381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447288"/>
            <a:ext cx="41148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246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666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Yes / No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37760" y="3904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churned (1,869)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41422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73.5% retained (5,174)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0" y="43799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target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Visualizations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3200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566160" y="109728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160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heavily concentrated in month-to-month contracts — 15x higher than two-year contracts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Visualizations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206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97280"/>
          <a:ext cx="4206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74320" y="3063240"/>
          <a:ext cx="85953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52728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52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05840" y="121615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57400" y="11978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1463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just 3% for two-year contracts — the largest gap in the dataset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11096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20824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20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198424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57400" y="1965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churn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2311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(0–12 months) are the highest-risk segment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79192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88920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" y="275234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057400" y="27340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churn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2999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service customers churn more — a service quality signal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447288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57016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57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352044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057400" y="3502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churn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57400" y="37673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payment methods; auto-pay users churn far less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215384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325112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25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5840" y="428853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057400" y="42702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service effect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57400" y="45354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Online Security or Tech Support churn at 2x the rate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 (1 of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005840" cy="1115568"/>
          </a:xfrm>
          <a:prstGeom prst="roundRect">
            <a:avLst>
              <a:gd name="adj" fmla="val 9091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143000"/>
            <a:ext cx="548640" cy="11155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Long-Term Contracts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563624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month-to-month customers targeted upgrades — discounted rates or waived fees — to migrate them to one or two-year contracts. Add a loyalty discount in month 10–11 as a proactive retention trigger.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8412480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04872"/>
            <a:ext cx="1005840" cy="1115568"/>
          </a:xfrm>
          <a:prstGeom prst="roundRect">
            <a:avLst>
              <a:gd name="adj" fmla="val 9091"/>
            </a:avLst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404872"/>
            <a:ext cx="548640" cy="111556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04872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4963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Onboarding Programme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282549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proactive check-ins at 30, 60, and 90 days for new customers. Assign dedicated support agents in the first three months to resolve issues before they become reasons to leave.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66744"/>
            <a:ext cx="8412480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66744"/>
            <a:ext cx="1005840" cy="1115568"/>
          </a:xfrm>
          <a:prstGeom prst="roundRect">
            <a:avLst>
              <a:gd name="adj" fmla="val 9091"/>
            </a:avLst>
          </a:prstGeom>
          <a:solidFill>
            <a:srgbClr val="5B8E6E"/>
          </a:solidFill>
          <a:ln w="12700">
            <a:solidFill>
              <a:srgbClr val="5B8E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666744"/>
            <a:ext cx="548640" cy="1115568"/>
          </a:xfrm>
          <a:prstGeom prst="rect">
            <a:avLst/>
          </a:prstGeom>
          <a:solidFill>
            <a:srgbClr val="5B8E6E"/>
          </a:solidFill>
          <a:ln w="12700">
            <a:solidFill>
              <a:srgbClr val="5B8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66744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375818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Fiber Optic Service Quality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408736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causes of high fiber churn through satisfaction surveys and support tickets. Introduce loyalty pricing tiers for long-term fiber customers and prioritise infrastructure investment.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 (2 of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005840" cy="1115568"/>
          </a:xfrm>
          <a:prstGeom prst="roundRect">
            <a:avLst>
              <a:gd name="adj" fmla="val 9091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143000"/>
            <a:ext cx="548640" cy="11155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Auto-Pay Enrolment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563624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small monthly discount ($2–5) for customers who switch from electronic check to auto-pay. This reduces payment friction, lowers churn risk, and improves revenue predictability.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8412480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04872"/>
            <a:ext cx="1005840" cy="1115568"/>
          </a:xfrm>
          <a:prstGeom prst="roundRect">
            <a:avLst>
              <a:gd name="adj" fmla="val 9091"/>
            </a:avLst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404872"/>
            <a:ext cx="548640" cy="111556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04872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4963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Add-On Services as a Retention Tool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2825496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free 3-month trial of Online Security and Tech Support to high-risk customers. Once experienced, conversion to paid subscription is likely and churn risk drops significantly.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66744"/>
            <a:ext cx="8412480" cy="1115568"/>
          </a:xfrm>
          <a:prstGeom prst="roundRect">
            <a:avLst>
              <a:gd name="adj" fmla="val 8197"/>
            </a:avLst>
          </a:prstGeom>
          <a:solidFill>
            <a:srgbClr val="F4F6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66744"/>
            <a:ext cx="1005840" cy="1115568"/>
          </a:xfrm>
          <a:prstGeom prst="roundRect">
            <a:avLst>
              <a:gd name="adj" fmla="val 9091"/>
            </a:avLst>
          </a:prstGeom>
          <a:solidFill>
            <a:srgbClr val="5B8E6E"/>
          </a:solidFill>
          <a:ln w="12700">
            <a:solidFill>
              <a:srgbClr val="5B8E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666744"/>
            <a:ext cx="548640" cy="1115568"/>
          </a:xfrm>
          <a:prstGeom prst="rect">
            <a:avLst/>
          </a:prstGeom>
          <a:solidFill>
            <a:srgbClr val="5B8E6E"/>
          </a:solidFill>
          <a:ln w="12700">
            <a:solidFill>
              <a:srgbClr val="5B8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66744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375818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 Support Programme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408736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dedicated senior support line, simplified billing, and a senior-specific pricing plan to address the unique needs of this growing demographic churning at ~41%.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4472C4">
              <a:alpha val="20000"/>
            </a:srgbClr>
          </a:solidFill>
          <a:ln w="12700">
            <a:solidFill>
              <a:srgbClr val="4472C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2743200" cy="2743200"/>
          </a:xfrm>
          <a:prstGeom prst="ellipse">
            <a:avLst/>
          </a:prstGeom>
          <a:solidFill>
            <a:srgbClr val="E05C5C">
              <a:alpha val="20000"/>
            </a:srgbClr>
          </a:solidFill>
          <a:ln w="12700">
            <a:solidFill>
              <a:srgbClr val="E05C5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5272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at 26.5% is concentrated in identifiable, addressable segments — not random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contracts, new customers, fiber optic users, and electronic check payers are the highest-risk groups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43784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6207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contracts, add-on subscriptions, and auto-pay are strongly associated with retention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48456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6674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recommendations target the highest-impact levers across marketing, product, and support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retention starts with knowing who is at risk — and acting before they leave.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</dc:title>
  <dc:subject>PptxGenJS Presentation</dc:subject>
  <dc:creator>Naomi</dc:creator>
  <cp:lastModifiedBy>Naomi</cp:lastModifiedBy>
  <cp:revision>1</cp:revision>
  <dcterms:created xsi:type="dcterms:W3CDTF">2026-07-05T21:39:02Z</dcterms:created>
  <dcterms:modified xsi:type="dcterms:W3CDTF">2026-07-05T21:39:02Z</dcterms:modified>
</cp:coreProperties>
</file>